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9FC2E0"/>
                </a:solidFill>
                <a:latin typeface="Malgun Gothic"/>
              </a:rPr>
              <a:t>d'strict Holdings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IPO Readiness Kick-off 회의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C7D6E6"/>
                </a:solidFill>
                <a:latin typeface="Malgun Gothic"/>
              </a:rPr>
              <a:t>삼일PwC (Assurance / Global IPO) 착수 회의 결과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일시   2026-06-17(수) 09:30 ~ 10:05  ·  Microsoft Teams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C7D6E6"/>
                </a:solidFill>
                <a:latin typeface="Malgun Gothic"/>
              </a:rPr>
              <a:t>참석   회사 3명 (이영한·장지만·김임영)  /  PwC 5명 (남승수·김승회·강찬휘·조범선·김혜진)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algun Gothic"/>
              </a:rPr>
              <a:t>작성   전략기획실(CSO/CLO)  ·  보안등급: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MEETING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1.  회의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46888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회의명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417320"/>
            <a:ext cx="859536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83210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02832"/>
                </a:solidFill>
                <a:latin typeface="Malgun Gothic"/>
              </a:rPr>
              <a:t>d'strict_IPO Readiness (Kick-off)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75688"/>
            <a:ext cx="246888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75688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일시 /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075688"/>
            <a:ext cx="859536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075688"/>
            <a:ext cx="83210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02832"/>
                </a:solidFill>
                <a:latin typeface="Malgun Gothic"/>
              </a:rPr>
              <a:t>2026-06-17(수) 09:30 ~ 10:05 (35분)  ·  MS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34056"/>
            <a:ext cx="246888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34056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주관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734056"/>
            <a:ext cx="859536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734056"/>
            <a:ext cx="83210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02832"/>
                </a:solidFill>
                <a:latin typeface="Malgun Gothic"/>
              </a:rPr>
              <a:t>삼일PwC — Assurance / Global IPO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92424"/>
            <a:ext cx="246888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92424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목적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392424"/>
            <a:ext cx="859536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392424"/>
            <a:ext cx="83210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02832"/>
                </a:solidFill>
                <a:latin typeface="Malgun Gothic"/>
              </a:rPr>
              <a:t>상장 옵션 검토 및 IPO Readiness 업무 범위 확정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51960"/>
            <a:ext cx="5486400" cy="182880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7083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Malgun Gothic"/>
              </a:rPr>
              <a:t>■ 회사 (d'strict)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02832"/>
                </a:solidFill>
                <a:latin typeface="Malgun Gothic"/>
              </a:rPr>
              <a:t>•  이영한 실장 — CSO/CLO (커뮤니케이션 창구)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02832"/>
                </a:solidFill>
                <a:latin typeface="Malgun Gothic"/>
              </a:rPr>
              <a:t>•  장지만 실장 — CFO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02832"/>
                </a:solidFill>
                <a:latin typeface="Malgun Gothic"/>
              </a:rPr>
              <a:t>•  김임영 팀장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51960"/>
            <a:ext cx="5303520" cy="182880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370832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Malgun Gothic"/>
              </a:rPr>
              <a:t>■ 자문사 (삼일PwC)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9377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02832"/>
                </a:solidFill>
                <a:latin typeface="Malgun Gothic"/>
              </a:rPr>
              <a:t>•  남승수 파트너 — Global IPO 총괄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02832"/>
                </a:solidFill>
                <a:latin typeface="Malgun Gothic"/>
              </a:rPr>
              <a:t>•  김승회 · 강찬휘 · 조범선 (KR-ASR)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87122"/>
                </a:solidFill>
                <a:latin typeface="Malgun Gothic"/>
              </a:rPr>
              <a:t>•  김혜진 — 감사 담당, Readiness 신규 합류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2.  회의 배경 및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202832"/>
                </a:solidFill>
                <a:latin typeface="Malgun Gothic"/>
              </a:rPr>
              <a:t>•  전통적으로 나스닥(미국) 상장을 우선 고려해 왔으나, 최근 한국 시장 상장도 옵션으로 진지하게 검토 중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202832"/>
                </a:solidFill>
                <a:latin typeface="Malgun Gothic"/>
              </a:rPr>
              <a:t>•  본 회의는 상장 옵션 검토 및 IPO Readiness 업무 범위를 확정하기 위한 착수(Kick-off) 회의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202832"/>
                </a:solidFill>
                <a:latin typeface="Malgun Gothic"/>
              </a:rPr>
              <a:t>•  피어그룹 분류 · 밸류에이션 스토리라인 · 감사/상장 요건을 중심으로 논의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63500" cy="14630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Malgun Gothic"/>
              </a:rPr>
              <a:t>계약 구조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02832"/>
                </a:solidFill>
                <a:latin typeface="Malgun Gothic"/>
              </a:rPr>
              <a:t>삼일PwC가 d'strict Holdings Inc.의 IPO 시장분석 자문사로 선정. 2025년 US-GAAP 재무제표 PA 업무와 IPO Readiness 업무를 통합한 단일 계약(통화 US$)으로 진행.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KEY DISCUSSION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3.  주요 논의 내용 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48056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6400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범위 · 산출물 · 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시장환경 분석 / 규제·요건 비교(美·韓)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피어 벤치마크 밸류에이션 시뮬레이션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상장 로드맵·마일스톤 제시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산출물: 美·韓 비교 PPT  ·  일정: 5주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486400" cy="448056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486400" cy="6400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상장 시장 선택 · 피어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502920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피어 분류가 밸류에이션에 핵심 영향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엔터테인먼트 vs 테크 하이브리드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>
                <a:solidFill>
                  <a:srgbClr val="202832"/>
                </a:solidFill>
                <a:latin typeface="Malgun Gothic"/>
              </a:rPr>
              <a:t>•  한국이 美 대비 더 빠른 성장·상장 가능성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KEY DISCUSSION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3.  주요 논의 내용 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219456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사업계획 · 재무 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2030년까지 사업계획 보유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2026년 영업이익 흑자전환 목표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매출 성장 but 영업손실 지속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중간 CAPEX·대규모 파이낸싱 시점이 Pre-IPO 타이밍에 영향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486400" cy="219456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4864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상장 타이밍 · 성장 시점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PCAOB 업리프트 후 이론상 1년 내 US IPO 가능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단, 현실적 허들로 지연 가능성 큼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보고서에 '성장 시점'을 핵심 고려요소로 포함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5486400" cy="219456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4864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두바이 법인 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7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PCAOB 전환 시 예상 결함·개선포인트 추가 분석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두바이 매출 동향·결산 상황 점검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49039"/>
            <a:ext cx="5486400" cy="2194560"/>
          </a:xfrm>
          <a:prstGeom prst="rect">
            <a:avLst/>
          </a:prstGeom>
          <a:noFill/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49039"/>
            <a:ext cx="54864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팀 · 커뮤니케이션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315967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감사 담당 김혜진 합류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싱글 포인트(SPOC) 운영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회사 창구 공식화 + 김완 실장 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ISSUES &amp;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4.  핵심 쟁점 및 결정 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480560"/>
          </a:xfrm>
          <a:prstGeom prst="rect">
            <a:avLst/>
          </a:prstGeom>
          <a:noFill/>
          <a:ln w="12700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5486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핵심 쟁점 (Key Questions)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미국(나스닥) vs 한국 — 우선 시장은?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지금이 착수에 적절한 시점인가?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성장 목표 시점과 시장 선택 접근법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PCAOB 업리프트 후 1년 내 US IPO 가능?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두바이 PCAOB 업리프트 소요기간은?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두바이 매출·결산 현황은?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03520" cy="5486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결정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202832"/>
                </a:solidFill>
                <a:latin typeface="Malgun Gothic"/>
              </a:rPr>
              <a:t>•  업무 범위 4개 영역 · 5주 일정 확정</a:t>
            </a:r>
          </a:p>
          <a:p>
            <a:pPr algn="l" lvl="1">
              <a:lnSpc>
                <a:spcPct val="105000"/>
              </a:lnSpc>
              <a:spcAft>
                <a:spcPts val="1200"/>
              </a:spcAft>
            </a:pPr>
            <a:r>
              <a:rPr sz="1100" b="0">
                <a:solidFill>
                  <a:srgbClr val="555F6B"/>
                </a:solidFill>
                <a:latin typeface="Malgun Gothic"/>
              </a:rPr>
              <a:t>–  (시장분석·요건비교·밸류에이션·로드맵)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202832"/>
                </a:solidFill>
                <a:latin typeface="Malgun Gothic"/>
              </a:rPr>
              <a:t>•  보고서에 '성장 시점(Timing)' 반영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202832"/>
                </a:solidFill>
                <a:latin typeface="Malgun Gothic"/>
              </a:rPr>
              <a:t>•  두바이 법인 결함·개선포인트 분석 포함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202832"/>
                </a:solidFill>
                <a:latin typeface="Malgun Gothic"/>
              </a:rPr>
              <a:t>•  커뮤니케이션 싱글포인트 운영 (김완 실장 CC)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ACTION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5.  후속 조치 (Action Items)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Malgun Gothic"/>
              </a:rPr>
              <a:t>■ 회사 (d'strict)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1031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F2A4A"/>
                </a:solidFill>
                <a:latin typeface="Malgun Gothic"/>
              </a:rPr>
              <a:t>장지만 CFO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691640"/>
            <a:ext cx="338328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91640"/>
            <a:ext cx="3200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2030 사업계획(시나리오) 추가 전달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21031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F2A4A"/>
                </a:solidFill>
                <a:latin typeface="Malgun Gothic"/>
              </a:rPr>
              <a:t>장지만 CFO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258568"/>
            <a:ext cx="338328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258568"/>
            <a:ext cx="3200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재무추정·자금조달 자료 전달 (회의 직후)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25496"/>
            <a:ext cx="21031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25496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F2A4A"/>
                </a:solidFill>
                <a:latin typeface="Malgun Gothic"/>
              </a:rPr>
              <a:t>이영한 실장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825496"/>
            <a:ext cx="338328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825496"/>
            <a:ext cx="3200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업데이트된 회의 자료 준비·공유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92424"/>
            <a:ext cx="21031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F2A4A"/>
                </a:solidFill>
                <a:latin typeface="Malgun Gothic"/>
              </a:rPr>
              <a:t>이영한 실장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392424"/>
            <a:ext cx="338328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392424"/>
            <a:ext cx="3200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IR 자료·2030 사업계획서·자회사 정보 공유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59352"/>
            <a:ext cx="21031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59352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F2A4A"/>
                </a:solidFill>
                <a:latin typeface="Malgun Gothic"/>
              </a:rPr>
              <a:t>이영한 실장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959352"/>
            <a:ext cx="338328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959352"/>
            <a:ext cx="3200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인수 대상/계획 정보 공유 (있을 경우)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21031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F2A4A"/>
                </a:solidFill>
                <a:latin typeface="Malgun Gothic"/>
              </a:rPr>
              <a:t>이영한 실장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526280"/>
            <a:ext cx="338328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4526280"/>
            <a:ext cx="3200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SPOC 연락처 공식화 + 김완 실장 CC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E87122"/>
                </a:solidFill>
                <a:latin typeface="Malgun Gothic"/>
              </a:rPr>
              <a:t>■ 자문사 (삼일PwC)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91640"/>
            <a:ext cx="1554480" cy="502920"/>
          </a:xfrm>
          <a:prstGeom prst="rect">
            <a:avLst/>
          </a:prstGeom>
          <a:solidFill>
            <a:srgbClr val="FB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69164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87122"/>
                </a:solidFill>
                <a:latin typeface="Malgun Gothic"/>
              </a:rPr>
              <a:t>남승수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1691640"/>
            <a:ext cx="365760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691640"/>
            <a:ext cx="3474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PBC(요청자료) 리스트 별도 송부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258568"/>
            <a:ext cx="1554480" cy="502920"/>
          </a:xfrm>
          <a:prstGeom prst="rect">
            <a:avLst/>
          </a:prstGeom>
          <a:solidFill>
            <a:srgbClr val="FB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258568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87122"/>
                </a:solidFill>
                <a:latin typeface="Malgun Gothic"/>
              </a:rPr>
              <a:t>남승수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2258568"/>
            <a:ext cx="365760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2258568"/>
            <a:ext cx="3474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보고서에 '성장 시점' 주요 고려요소 포함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825496"/>
            <a:ext cx="1554480" cy="502920"/>
          </a:xfrm>
          <a:prstGeom prst="rect">
            <a:avLst/>
          </a:prstGeom>
          <a:solidFill>
            <a:srgbClr val="FB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825496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87122"/>
                </a:solidFill>
                <a:latin typeface="Malgun Gothic"/>
              </a:rPr>
              <a:t>남승수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2825496"/>
            <a:ext cx="365760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825496"/>
            <a:ext cx="3474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두바이 법인 결함·개선포인트 분석 수행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392424"/>
            <a:ext cx="1554480" cy="502920"/>
          </a:xfrm>
          <a:prstGeom prst="rect">
            <a:avLst/>
          </a:prstGeom>
          <a:solidFill>
            <a:srgbClr val="FB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392424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87122"/>
                </a:solidFill>
                <a:latin typeface="Malgun Gothic"/>
              </a:rPr>
              <a:t>남승수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3392424"/>
            <a:ext cx="3657600" cy="502920"/>
          </a:xfrm>
          <a:prstGeom prst="rect">
            <a:avLst/>
          </a:prstGeom>
          <a:noFill/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3392424"/>
            <a:ext cx="3474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02832"/>
                </a:solidFill>
                <a:latin typeface="Malgun Gothic"/>
              </a:rPr>
              <a:t>진행 중 추가 질문·요청 지속 전달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FC2E0"/>
                </a:solidFill>
                <a:latin typeface="Malgun Gothic"/>
              </a:rPr>
              <a:t>RISKS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algun Gothic"/>
              </a:rPr>
              <a:t>6.  리스크 및 참고자료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480560"/>
          </a:xfrm>
          <a:prstGeom prst="rect">
            <a:avLst/>
          </a:prstGeom>
          <a:noFill/>
          <a:ln w="12700">
            <a:solidFill>
              <a:srgbClr val="E871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5486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리스크 · 점검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영업손실 지속 → 트랙별 재무·감사 요건 충족이 관건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피어 분류(엔터 vs 테크)에 따라 밸류 편차 큼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두바이 법인 PCAOB 전환 결함·업리프트 기간 불확실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250" b="0">
                <a:solidFill>
                  <a:srgbClr val="202832"/>
                </a:solidFill>
                <a:latin typeface="Malgun Gothic"/>
              </a:rPr>
              <a:t>•  '1년 내 IPO'는 이론치 — 현실적 지연 요인 다수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03520" cy="5486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참고 자료 (Google Drive)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202832"/>
                </a:solidFill>
                <a:latin typeface="Malgun Gothic"/>
              </a:rPr>
              <a:t>•  d'strict IPO Readiness Proposal_PwC.pdf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260202_나스닥 상장 IPO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나스닥 상장 유니콘 IPO 준비 로드맵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디스트릭트 IPO 준비 및 신사업 전략(비전 2028)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241017_IPO 자금조달 시뮬레이션.xlsx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 b="0">
                <a:solidFill>
                  <a:srgbClr val="202832"/>
                </a:solidFill>
                <a:latin typeface="Malgun Gothic"/>
              </a:rPr>
              <a:t>•  240930_대주주 IPO품의건_v3.xlsx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d'strict  |  IPO Readiness Kick-off  |  2026-06-17  (대외비)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